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11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desplazar la diapositiva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287F14-1783-49F8-AFDA-3DAFCE3EE309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BACFD9-2CE2-49BE-ADCA-88114D1B3B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B7AB10-F743-4848-A29E-C7ADADC24D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F9C24-FE4C-40F8-B6B2-97DCAFB1C0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DB81ED-B76A-46D7-A3D6-B99AB39879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ED861-61D0-48EF-AA36-F5830E03CF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51CA40-5764-45E8-866E-6C12F89093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BBCDB4-6DE1-4DDE-A019-EBFDC2728E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74E314-4463-4CF1-AEF6-E24F4316BD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3071B-ACBE-4B86-838C-AC498A1E10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BA2662-44E1-4E50-9466-2FA753F492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731735-4B01-4885-BFFE-9A9EC9DB36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05792-6C04-4897-93E4-E1ACCC5C40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9D40F5-5E0E-4D63-95FB-1CC09691D6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25822E-3B65-4978-A1FE-C52EF8F283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0D114-F465-46C6-A9D1-758069ED09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D460A8-DFB2-4DAB-BDA4-45C77DDA5D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578830-3B82-42B1-8191-1F741314BE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21.png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418320" y="-1645920"/>
            <a:ext cx="5028840" cy="50288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463040" y="4206240"/>
            <a:ext cx="4023000" cy="402300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22960" y="685800"/>
            <a:ext cx="566640" cy="566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Image 0" descr="icons/desktop_teal.png"/>
          <p:cNvPicPr/>
          <p:nvPr/>
        </p:nvPicPr>
        <p:blipFill>
          <a:blip r:embed="rId1"/>
          <a:stretch/>
        </p:blipFill>
        <p:spPr>
          <a:xfrm>
            <a:off x="970200" y="8330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3" name="Shape 4"/>
          <p:cNvSpPr/>
          <p:nvPr/>
        </p:nvSpPr>
        <p:spPr>
          <a:xfrm>
            <a:off x="2286000" y="685800"/>
            <a:ext cx="566640" cy="566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Image 1" descr="icons/server_teal.png"/>
          <p:cNvPicPr/>
          <p:nvPr/>
        </p:nvPicPr>
        <p:blipFill>
          <a:blip r:embed="rId2"/>
          <a:stretch/>
        </p:blipFill>
        <p:spPr>
          <a:xfrm>
            <a:off x="2433240" y="8330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5" name="Shape 5"/>
          <p:cNvSpPr/>
          <p:nvPr/>
        </p:nvSpPr>
        <p:spPr>
          <a:xfrm>
            <a:off x="3749040" y="685800"/>
            <a:ext cx="566640" cy="566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Image 2" descr="icons/terminal_teal.png"/>
          <p:cNvPicPr/>
          <p:nvPr/>
        </p:nvPicPr>
        <p:blipFill>
          <a:blip r:embed="rId3"/>
          <a:stretch/>
        </p:blipFill>
        <p:spPr>
          <a:xfrm>
            <a:off x="3896280" y="8330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7" name="Shape 6"/>
          <p:cNvSpPr/>
          <p:nvPr/>
        </p:nvSpPr>
        <p:spPr>
          <a:xfrm>
            <a:off x="5212080" y="685800"/>
            <a:ext cx="566640" cy="566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3" descr="icons/network_teal.png"/>
          <p:cNvPicPr/>
          <p:nvPr/>
        </p:nvPicPr>
        <p:blipFill>
          <a:blip r:embed="rId4"/>
          <a:stretch/>
        </p:blipFill>
        <p:spPr>
          <a:xfrm>
            <a:off x="5359320" y="8330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19" name="Text 7"/>
          <p:cNvSpPr/>
          <p:nvPr/>
        </p:nvSpPr>
        <p:spPr>
          <a:xfrm>
            <a:off x="822960" y="25146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CICLO FORMATIVO DE GRADO MEDIO · SISTEMAS MICROINFORMÁTICOS Y REDES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822960" y="2880360"/>
            <a:ext cx="105152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Sistemas Operativos</a:t>
            </a:r>
            <a:endParaRPr b="0" lang="es-ES" sz="4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Monopuesto</a:t>
            </a:r>
            <a:endParaRPr b="0" lang="es-E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822960" y="4892040"/>
            <a:ext cx="9692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adcfc"/>
                </a:solidFill>
                <a:latin typeface="Calibri"/>
                <a:ea typeface="Calibri"/>
              </a:rPr>
              <a:t>120 horas de formación eminentemente práctica, construidas alrededor de un único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adcfc"/>
                </a:solidFill>
                <a:latin typeface="Calibri"/>
                <a:ea typeface="Calibri"/>
              </a:rPr>
              <a:t>hilo conductor: el despliegue informático de TechPyme S.L.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822960" y="5806440"/>
            <a:ext cx="2011680" cy="360"/>
          </a:xfrm>
          <a:prstGeom prst="line">
            <a:avLst/>
          </a:prstGeom>
          <a:ln w="381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1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PRESENTACIÓN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Ficha del módulo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640080" y="1783080"/>
            <a:ext cx="2486880" cy="21027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9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1572840" y="203904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Image 0" descr="icons/hdd_white.png"/>
          <p:cNvPicPr/>
          <p:nvPr/>
        </p:nvPicPr>
        <p:blipFill>
          <a:blip r:embed="rId1"/>
          <a:stretch/>
        </p:blipFill>
        <p:spPr>
          <a:xfrm>
            <a:off x="1734480" y="220068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0" name="Text 4"/>
          <p:cNvSpPr/>
          <p:nvPr/>
        </p:nvSpPr>
        <p:spPr>
          <a:xfrm>
            <a:off x="640080" y="2743200"/>
            <a:ext cx="2486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2a4a"/>
                </a:solidFill>
                <a:latin typeface="Cambria"/>
                <a:ea typeface="Cambria"/>
              </a:rPr>
              <a:t>120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731520" y="331920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horas totales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3383280" y="1783080"/>
            <a:ext cx="2486880" cy="21027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9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4316040" y="203904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Image 1" descr="icons/calendar_white.png"/>
          <p:cNvPicPr/>
          <p:nvPr/>
        </p:nvPicPr>
        <p:blipFill>
          <a:blip r:embed="rId2"/>
          <a:stretch/>
        </p:blipFill>
        <p:spPr>
          <a:xfrm>
            <a:off x="4477680" y="220068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5" name="Text 8"/>
          <p:cNvSpPr/>
          <p:nvPr/>
        </p:nvSpPr>
        <p:spPr>
          <a:xfrm>
            <a:off x="3383280" y="2743200"/>
            <a:ext cx="2486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2a4a"/>
                </a:solidFill>
                <a:latin typeface="Cambria"/>
                <a:ea typeface="Cambria"/>
              </a:rPr>
              <a:t>3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3474720" y="331920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evaluaciones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6126480" y="1783080"/>
            <a:ext cx="2486880" cy="21027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9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7059240" y="203904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Image 2" descr="icons/cap_white.png"/>
          <p:cNvPicPr/>
          <p:nvPr/>
        </p:nvPicPr>
        <p:blipFill>
          <a:blip r:embed="rId3"/>
          <a:stretch/>
        </p:blipFill>
        <p:spPr>
          <a:xfrm>
            <a:off x="7220880" y="220068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40" name="Text 12"/>
          <p:cNvSpPr/>
          <p:nvPr/>
        </p:nvSpPr>
        <p:spPr>
          <a:xfrm>
            <a:off x="6126480" y="2743200"/>
            <a:ext cx="2486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2a4a"/>
                </a:solidFill>
                <a:latin typeface="Cambria"/>
                <a:ea typeface="Cambria"/>
              </a:rPr>
              <a:t>5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6217920" y="331920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resultados 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aprendizaje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8869680" y="1783080"/>
            <a:ext cx="2486880" cy="21027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9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5"/>
          <p:cNvSpPr/>
          <p:nvPr/>
        </p:nvSpPr>
        <p:spPr>
          <a:xfrm>
            <a:off x="9802440" y="203904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3" descr="icons/layer_white.png"/>
          <p:cNvPicPr/>
          <p:nvPr/>
        </p:nvPicPr>
        <p:blipFill>
          <a:blip r:embed="rId4"/>
          <a:stretch/>
        </p:blipFill>
        <p:spPr>
          <a:xfrm>
            <a:off x="9964080" y="220068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45" name="Text 16"/>
          <p:cNvSpPr/>
          <p:nvPr/>
        </p:nvSpPr>
        <p:spPr>
          <a:xfrm>
            <a:off x="8869680" y="2743200"/>
            <a:ext cx="2486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b2a4a"/>
                </a:solidFill>
                <a:latin typeface="Cambria"/>
                <a:ea typeface="Cambria"/>
              </a:rPr>
              <a:t>10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8961120" y="3319200"/>
            <a:ext cx="230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unidades de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trabajo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640080" y="4251960"/>
            <a:ext cx="10716480" cy="1828440"/>
          </a:xfrm>
          <a:prstGeom prst="roundRect">
            <a:avLst>
              <a:gd name="adj" fmla="val 5000"/>
            </a:avLst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914400" y="4434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fa4b9"/>
                </a:solidFill>
                <a:latin typeface="Calibri"/>
                <a:ea typeface="Calibri"/>
              </a:rPr>
              <a:t>Metodología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914400" y="4754880"/>
            <a:ext cx="50288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Eminentemente práctica: cada unidad combina teoría breve con ejercicios aplicados directamente sobre el proyecto TechPyme S.L.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1"/>
          <p:cNvSpPr/>
          <p:nvPr/>
        </p:nvSpPr>
        <p:spPr>
          <a:xfrm>
            <a:off x="6172200" y="4526280"/>
            <a:ext cx="360" cy="1371600"/>
          </a:xfrm>
          <a:prstGeom prst="line">
            <a:avLst/>
          </a:prstGeom>
          <a:ln w="1587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6446520" y="4434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fa4b9"/>
                </a:solidFill>
                <a:latin typeface="Calibri"/>
                <a:ea typeface="Calibri"/>
              </a:rPr>
              <a:t>Distribución horaria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3"/>
          <p:cNvSpPr/>
          <p:nvPr/>
        </p:nvSpPr>
        <p:spPr>
          <a:xfrm>
            <a:off x="6446520" y="4754880"/>
            <a:ext cx="4845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  <a:ea typeface="Calibri"/>
              </a:rPr>
              <a:t>1ª evaluación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  </a:t>
            </a: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SO y virtualización — 36h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  <a:ea typeface="Calibri"/>
              </a:rPr>
              <a:t>2ª evaluación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  </a:t>
            </a: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Windows — 42h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  <a:ea typeface="Calibri"/>
              </a:rPr>
              <a:t>3ª evaluación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  </a:t>
            </a: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Linux y cierre — 42h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MARCO CURRICULAR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Resultados de aprendizaje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640080" y="1783080"/>
            <a:ext cx="566640" cy="5666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Image 0" descr="icons/folder_white.png"/>
          <p:cNvPicPr/>
          <p:nvPr/>
        </p:nvPicPr>
        <p:blipFill>
          <a:blip r:embed="rId1"/>
          <a:stretch/>
        </p:blipFill>
        <p:spPr>
          <a:xfrm>
            <a:off x="787320" y="193032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59" name="Text 3"/>
          <p:cNvSpPr/>
          <p:nvPr/>
        </p:nvSpPr>
        <p:spPr>
          <a:xfrm>
            <a:off x="1389960" y="17557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RA1  ·  Sistemas de archivo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389960" y="209412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Reconoce las características de los sistemas de archivo, describiendo sus tipos y aplicaciones.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640080" y="2843640"/>
            <a:ext cx="566640" cy="5666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Image 1" descr="icons/hdd_white.png"/>
          <p:cNvPicPr/>
          <p:nvPr/>
        </p:nvPicPr>
        <p:blipFill>
          <a:blip r:embed="rId2"/>
          <a:stretch/>
        </p:blipFill>
        <p:spPr>
          <a:xfrm>
            <a:off x="787320" y="29912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63" name="Text 6"/>
          <p:cNvSpPr/>
          <p:nvPr/>
        </p:nvSpPr>
        <p:spPr>
          <a:xfrm>
            <a:off x="1389960" y="28162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RA2  ·  Instalación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389960" y="315468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Instala sistemas operativos, relacionando sus características con el hardware y el software.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640080" y="3904560"/>
            <a:ext cx="566640" cy="5666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" name="Image 2" descr="icons/cogs_white.png"/>
          <p:cNvPicPr/>
          <p:nvPr/>
        </p:nvPicPr>
        <p:blipFill>
          <a:blip r:embed="rId3"/>
          <a:stretch/>
        </p:blipFill>
        <p:spPr>
          <a:xfrm>
            <a:off x="787320" y="405180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67" name="Text 9"/>
          <p:cNvSpPr/>
          <p:nvPr/>
        </p:nvSpPr>
        <p:spPr>
          <a:xfrm>
            <a:off x="1389960" y="387720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RA3  ·  Configuración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1389960" y="421524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Realiza tareas básicas de configuración, interpretando requerimientos y procedimientos.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6263640" y="1783080"/>
            <a:ext cx="566640" cy="5666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3" descr="icons/shield_white.png"/>
          <p:cNvPicPr/>
          <p:nvPr/>
        </p:nvPicPr>
        <p:blipFill>
          <a:blip r:embed="rId4"/>
          <a:stretch/>
        </p:blipFill>
        <p:spPr>
          <a:xfrm>
            <a:off x="6410880" y="193032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71" name="Text 12"/>
          <p:cNvSpPr/>
          <p:nvPr/>
        </p:nvSpPr>
        <p:spPr>
          <a:xfrm>
            <a:off x="7013520" y="17557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RA4  ·  Administración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7013520" y="209412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Realiza operaciones de administración, optimizando el sistema para su uso.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6263640" y="2843640"/>
            <a:ext cx="566640" cy="5666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Image 4" descr="icons/cloud_white.png"/>
          <p:cNvPicPr/>
          <p:nvPr/>
        </p:nvPicPr>
        <p:blipFill>
          <a:blip r:embed="rId5"/>
          <a:stretch/>
        </p:blipFill>
        <p:spPr>
          <a:xfrm>
            <a:off x="6410880" y="299124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75" name="Text 15"/>
          <p:cNvSpPr/>
          <p:nvPr/>
        </p:nvSpPr>
        <p:spPr>
          <a:xfrm>
            <a:off x="7013520" y="28162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RA5  ·  Virtualización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7013520" y="315468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Crea máquinas virtuales identificando su campo de aplicación e instalando software.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6263640" y="3904560"/>
            <a:ext cx="5120280" cy="895680"/>
          </a:xfrm>
          <a:prstGeom prst="roundRect">
            <a:avLst>
              <a:gd name="adj" fmla="val 8163"/>
            </a:avLst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6492240" y="401436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1b2a4a"/>
                </a:solidFill>
                <a:latin typeface="Calibri"/>
                <a:ea typeface="Calibri"/>
              </a:rPr>
              <a:t>Los 5 RA se trabajan de forma cruzada en las 3 evaluaciones, no de forma aislada.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4571640" cy="6857640"/>
          </a:xfrm>
          <a:prstGeom prst="rect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1417320" y="1005840"/>
            <a:ext cx="1371240" cy="137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0" descr="icons/project_green.png"/>
          <p:cNvPicPr/>
          <p:nvPr/>
        </p:nvPicPr>
        <p:blipFill>
          <a:blip r:embed="rId1"/>
          <a:stretch/>
        </p:blipFill>
        <p:spPr>
          <a:xfrm>
            <a:off x="1774080" y="136260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84" name="Text 2"/>
          <p:cNvSpPr/>
          <p:nvPr/>
        </p:nvSpPr>
        <p:spPr>
          <a:xfrm>
            <a:off x="457200" y="2606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2ecc71"/>
                </a:solidFill>
                <a:latin typeface="Calibri"/>
                <a:ea typeface="Calibri"/>
              </a:rPr>
              <a:t>HILO CONDUCTOR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57200" y="2926080"/>
            <a:ext cx="3748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Proyecto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TechPyme S.L.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457200" y="434340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Una pequeña empresa ficticia que contextualiza cada práctica del curso, evaluación tras evaluación.</a:t>
            </a:r>
            <a:endParaRPr b="0" lang="es-E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5074920" y="96012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1" descr="icons/usershield_navy.png"/>
          <p:cNvPicPr/>
          <p:nvPr/>
        </p:nvPicPr>
        <p:blipFill>
          <a:blip r:embed="rId2"/>
          <a:stretch/>
        </p:blipFill>
        <p:spPr>
          <a:xfrm>
            <a:off x="5217480" y="110268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89" name="Text 6"/>
          <p:cNvSpPr/>
          <p:nvPr/>
        </p:nvSpPr>
        <p:spPr>
          <a:xfrm>
            <a:off x="5806440" y="9784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Dirección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5074920" y="203904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2" descr="icons/clipboard_navy.png"/>
          <p:cNvPicPr/>
          <p:nvPr/>
        </p:nvPicPr>
        <p:blipFill>
          <a:blip r:embed="rId3"/>
          <a:stretch/>
        </p:blipFill>
        <p:spPr>
          <a:xfrm>
            <a:off x="5217480" y="218160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92" name="Text 8"/>
          <p:cNvSpPr/>
          <p:nvPr/>
        </p:nvSpPr>
        <p:spPr>
          <a:xfrm>
            <a:off x="5806440" y="20574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Compras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5074920" y="311796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3" descr="icons/exchange_navy.png"/>
          <p:cNvPicPr/>
          <p:nvPr/>
        </p:nvPicPr>
        <p:blipFill>
          <a:blip r:embed="rId4"/>
          <a:stretch/>
        </p:blipFill>
        <p:spPr>
          <a:xfrm>
            <a:off x="5217480" y="326088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95" name="Text 10"/>
          <p:cNvSpPr/>
          <p:nvPr/>
        </p:nvSpPr>
        <p:spPr>
          <a:xfrm>
            <a:off x="5806440" y="31363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Ventas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5074920" y="419724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4" descr="icons/chartpie_navy.png"/>
          <p:cNvPicPr/>
          <p:nvPr/>
        </p:nvPicPr>
        <p:blipFill>
          <a:blip r:embed="rId5"/>
          <a:stretch/>
        </p:blipFill>
        <p:spPr>
          <a:xfrm>
            <a:off x="5217480" y="433980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98" name="Text 12"/>
          <p:cNvSpPr/>
          <p:nvPr/>
        </p:nvSpPr>
        <p:spPr>
          <a:xfrm>
            <a:off x="5806440" y="42152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Contabilidad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5074920" y="5276160"/>
            <a:ext cx="548280" cy="548280"/>
          </a:xfrm>
          <a:prstGeom prst="ellipse">
            <a:avLst/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5" descr="icons/cogs_navy.png"/>
          <p:cNvPicPr/>
          <p:nvPr/>
        </p:nvPicPr>
        <p:blipFill>
          <a:blip r:embed="rId6"/>
          <a:stretch/>
        </p:blipFill>
        <p:spPr>
          <a:xfrm>
            <a:off x="5217480" y="541872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101" name="Text 14"/>
          <p:cNvSpPr/>
          <p:nvPr/>
        </p:nvSpPr>
        <p:spPr>
          <a:xfrm>
            <a:off x="5806440" y="5294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Técnico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8778240" y="960120"/>
            <a:ext cx="2880000" cy="5120280"/>
          </a:xfrm>
          <a:prstGeom prst="roundRect">
            <a:avLst>
              <a:gd name="adj" fmla="val 3175"/>
            </a:avLst>
          </a:prstGeom>
          <a:solidFill>
            <a:srgbClr val="142138"/>
          </a:solidFill>
          <a:ln w="12700">
            <a:solidFill>
              <a:srgbClr val="2a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9052560" y="1234440"/>
            <a:ext cx="2377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Cada departamento tiene usuarios y grupos propios, con permisos diferenciados sobre sus carpetas y recursos compartidos.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7"/>
          <p:cNvSpPr/>
          <p:nvPr/>
        </p:nvSpPr>
        <p:spPr>
          <a:xfrm>
            <a:off x="9052560" y="2880360"/>
            <a:ext cx="2331720" cy="360"/>
          </a:xfrm>
          <a:prstGeom prst="line">
            <a:avLst/>
          </a:prstGeom>
          <a:ln w="12700">
            <a:solidFill>
              <a:srgbClr val="2a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9052560" y="310896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Windows: Dirección, Compras, Ventas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Linux: Contabilidad, Técnico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4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PROYECTO TECHPYME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Infraestructura del proyecto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640080" y="1737360"/>
            <a:ext cx="6949080" cy="4160160"/>
          </a:xfrm>
          <a:prstGeom prst="roundRect">
            <a:avLst>
              <a:gd name="adj" fmla="val 2637"/>
            </a:avLst>
          </a:prstGeom>
          <a:solidFill>
            <a:srgbClr val="f4f7f9"/>
          </a:solidFill>
          <a:ln w="12700">
            <a:solidFill>
              <a:srgbClr val="d7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914400" y="1920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2fa4b9"/>
                </a:solidFill>
                <a:latin typeface="Calibri"/>
                <a:ea typeface="Calibri"/>
              </a:rPr>
              <a:t>EQUIPO DEL ALUMNO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914400" y="2395800"/>
            <a:ext cx="63090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aa9b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1115640" y="2569320"/>
            <a:ext cx="658080" cy="6580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Image 0" descr="icons/desktop_white.png"/>
          <p:cNvPicPr/>
          <p:nvPr/>
        </p:nvPicPr>
        <p:blipFill>
          <a:blip r:embed="rId1"/>
          <a:stretch/>
        </p:blipFill>
        <p:spPr>
          <a:xfrm>
            <a:off x="1286640" y="274068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115" name="Text 6"/>
          <p:cNvSpPr/>
          <p:nvPr/>
        </p:nvSpPr>
        <p:spPr>
          <a:xfrm>
            <a:off x="2011680" y="25146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VM-WIN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2011680" y="29260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Dirección · Compras · Ventas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914400" y="3493080"/>
            <a:ext cx="63090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aa9b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1115640" y="3666600"/>
            <a:ext cx="658080" cy="6580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9" name="Image 1" descr="icons/terminal_white.png"/>
          <p:cNvPicPr/>
          <p:nvPr/>
        </p:nvPicPr>
        <p:blipFill>
          <a:blip r:embed="rId2"/>
          <a:stretch/>
        </p:blipFill>
        <p:spPr>
          <a:xfrm>
            <a:off x="1286640" y="383796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120" name="Text 10"/>
          <p:cNvSpPr/>
          <p:nvPr/>
        </p:nvSpPr>
        <p:spPr>
          <a:xfrm>
            <a:off x="2011680" y="36118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VM-LINUX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2011680" y="402336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Contabilidad · Técnico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914400" y="4590360"/>
            <a:ext cx="630900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9aa9b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1115640" y="4763880"/>
            <a:ext cx="658080" cy="6580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Image 2" descr="icons/network_white.png"/>
          <p:cNvPicPr/>
          <p:nvPr/>
        </p:nvPicPr>
        <p:blipFill>
          <a:blip r:embed="rId3"/>
          <a:stretch/>
        </p:blipFill>
        <p:spPr>
          <a:xfrm>
            <a:off x="1286640" y="493524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125" name="Text 14"/>
          <p:cNvSpPr/>
          <p:nvPr/>
        </p:nvSpPr>
        <p:spPr>
          <a:xfrm>
            <a:off x="2011680" y="470916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Host físico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2011680" y="512064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Tercer nodo de red, puntual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6"/>
          <p:cNvSpPr/>
          <p:nvPr/>
        </p:nvSpPr>
        <p:spPr>
          <a:xfrm>
            <a:off x="7772400" y="3429000"/>
            <a:ext cx="68544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7"/>
          <p:cNvSpPr/>
          <p:nvPr/>
        </p:nvSpPr>
        <p:spPr>
          <a:xfrm>
            <a:off x="8641080" y="1737360"/>
            <a:ext cx="2925720" cy="4160160"/>
          </a:xfrm>
          <a:prstGeom prst="roundRect">
            <a:avLst>
              <a:gd name="adj" fmla="val 375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8"/>
          <p:cNvSpPr/>
          <p:nvPr/>
        </p:nvSpPr>
        <p:spPr>
          <a:xfrm>
            <a:off x="8869680" y="19202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2ecc71"/>
                </a:solidFill>
                <a:latin typeface="Calibri"/>
                <a:ea typeface="Calibri"/>
              </a:rPr>
              <a:t>EQUIPO DEL PROFESOR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9"/>
          <p:cNvSpPr/>
          <p:nvPr/>
        </p:nvSpPr>
        <p:spPr>
          <a:xfrm>
            <a:off x="9692640" y="2743200"/>
            <a:ext cx="914040" cy="9140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Image 3" descr="icons/server_green.png"/>
          <p:cNvPicPr/>
          <p:nvPr/>
        </p:nvPicPr>
        <p:blipFill>
          <a:blip r:embed="rId4"/>
          <a:stretch/>
        </p:blipFill>
        <p:spPr>
          <a:xfrm>
            <a:off x="9930240" y="298080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132" name="Text 20"/>
          <p:cNvSpPr/>
          <p:nvPr/>
        </p:nvSpPr>
        <p:spPr>
          <a:xfrm>
            <a:off x="8869680" y="37947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VM-SRV-TECHPYME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8915400" y="4343400"/>
            <a:ext cx="246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Servidor de ficheros Samba, centralizado para toda la clase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29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PROYECTO TECHPYME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Infraestructura del proyecto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41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42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161720" y="1462680"/>
            <a:ext cx="9098280" cy="496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PROGRAMACIÓN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Estructura del curso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640080" y="1828800"/>
            <a:ext cx="3520080" cy="4114440"/>
          </a:xfrm>
          <a:prstGeom prst="roundRect">
            <a:avLst>
              <a:gd name="adj" fmla="val 3117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960120" y="214884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cadcfc"/>
                </a:solidFill>
                <a:latin typeface="Calibri"/>
                <a:ea typeface="Calibri"/>
              </a:rPr>
              <a:t>1ª EVALUACIÓN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960120" y="2606040"/>
            <a:ext cx="868320" cy="86832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Image 0" descr="icons/layer_white.png"/>
          <p:cNvPicPr/>
          <p:nvPr/>
        </p:nvPicPr>
        <p:blipFill>
          <a:blip r:embed="rId1"/>
          <a:stretch/>
        </p:blipFill>
        <p:spPr>
          <a:xfrm>
            <a:off x="1185840" y="28317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47" name="Text 5"/>
          <p:cNvSpPr/>
          <p:nvPr/>
        </p:nvSpPr>
        <p:spPr>
          <a:xfrm>
            <a:off x="960120" y="36576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mbria"/>
                <a:ea typeface="Cambria"/>
              </a:rPr>
              <a:t>SO y Virtualización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960120" y="4434840"/>
            <a:ext cx="288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UT1 · UT2 · UT3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960120" y="5074920"/>
            <a:ext cx="2880360" cy="360"/>
          </a:xfrm>
          <a:prstGeom prst="line">
            <a:avLst/>
          </a:prstGeom>
          <a:ln w="9525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960120" y="521208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36h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4480560" y="1828800"/>
            <a:ext cx="3520080" cy="4114440"/>
          </a:xfrm>
          <a:prstGeom prst="roundRect">
            <a:avLst>
              <a:gd name="adj" fmla="val 3117"/>
            </a:avLst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4800600" y="214884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cadcfc"/>
                </a:solidFill>
                <a:latin typeface="Calibri"/>
                <a:ea typeface="Calibri"/>
              </a:rPr>
              <a:t>2ª EVALUACIÓN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4800600" y="2606040"/>
            <a:ext cx="868320" cy="86832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4" name="Image 1" descr="icons/desktop_white.png"/>
          <p:cNvPicPr/>
          <p:nvPr/>
        </p:nvPicPr>
        <p:blipFill>
          <a:blip r:embed="rId2"/>
          <a:stretch/>
        </p:blipFill>
        <p:spPr>
          <a:xfrm>
            <a:off x="5026320" y="28317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55" name="Text 12"/>
          <p:cNvSpPr/>
          <p:nvPr/>
        </p:nvSpPr>
        <p:spPr>
          <a:xfrm>
            <a:off x="4800600" y="36576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mbria"/>
                <a:ea typeface="Cambria"/>
              </a:rPr>
              <a:t>Windows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4800600" y="4434840"/>
            <a:ext cx="288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UT4 · UT5 · UT6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4800600" y="5074920"/>
            <a:ext cx="2880360" cy="360"/>
          </a:xfrm>
          <a:prstGeom prst="line">
            <a:avLst/>
          </a:prstGeom>
          <a:ln w="9525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4800600" y="521208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42h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8321040" y="1828800"/>
            <a:ext cx="3520080" cy="4114440"/>
          </a:xfrm>
          <a:prstGeom prst="roundRect">
            <a:avLst>
              <a:gd name="adj" fmla="val 3117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8641080" y="214884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cadcfc"/>
                </a:solidFill>
                <a:latin typeface="Calibri"/>
                <a:ea typeface="Calibri"/>
              </a:rPr>
              <a:t>3ª EVALUACIÓN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8641080" y="2606040"/>
            <a:ext cx="868320" cy="86832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" name="Image 2" descr="icons/terminal_white.png"/>
          <p:cNvPicPr/>
          <p:nvPr/>
        </p:nvPicPr>
        <p:blipFill>
          <a:blip r:embed="rId3"/>
          <a:stretch/>
        </p:blipFill>
        <p:spPr>
          <a:xfrm>
            <a:off x="8866800" y="2831760"/>
            <a:ext cx="416520" cy="416520"/>
          </a:xfrm>
          <a:prstGeom prst="rect">
            <a:avLst/>
          </a:prstGeom>
          <a:ln w="0">
            <a:noFill/>
          </a:ln>
        </p:spPr>
      </p:pic>
      <p:sp>
        <p:nvSpPr>
          <p:cNvPr id="163" name="Text 19"/>
          <p:cNvSpPr/>
          <p:nvPr/>
        </p:nvSpPr>
        <p:spPr>
          <a:xfrm>
            <a:off x="8641080" y="36576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mbria"/>
                <a:ea typeface="Cambria"/>
              </a:rPr>
              <a:t>Linux y cierre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8641080" y="4434840"/>
            <a:ext cx="2880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UT7 · UT8 · UT9 · UT10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1"/>
          <p:cNvSpPr/>
          <p:nvPr/>
        </p:nvSpPr>
        <p:spPr>
          <a:xfrm>
            <a:off x="8641080" y="5074920"/>
            <a:ext cx="2880360" cy="360"/>
          </a:xfrm>
          <a:prstGeom prst="line">
            <a:avLst/>
          </a:prstGeom>
          <a:ln w="9525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8641080" y="521208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42h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1ª EVALUACIÓN · 36H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SO y Virtualización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640080" y="226332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2" name="Image 0" descr="icons/folder_white.png"/>
          <p:cNvPicPr/>
          <p:nvPr/>
        </p:nvPicPr>
        <p:blipFill>
          <a:blip r:embed="rId1"/>
          <a:stretch/>
        </p:blipFill>
        <p:spPr>
          <a:xfrm>
            <a:off x="842040" y="24652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73" name="Text 3"/>
          <p:cNvSpPr/>
          <p:nvPr/>
        </p:nvSpPr>
        <p:spPr>
          <a:xfrm>
            <a:off x="1600200" y="22449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UT1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1600200" y="255564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Introducción a los SO y sistemas de archivo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9966960" y="224496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12h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640080" y="3383280"/>
            <a:ext cx="101498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7"/>
          <p:cNvSpPr/>
          <p:nvPr/>
        </p:nvSpPr>
        <p:spPr>
          <a:xfrm>
            <a:off x="640080" y="3817800"/>
            <a:ext cx="776880" cy="77688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Image 1" descr="icons/hdd_white.png"/>
          <p:cNvPicPr/>
          <p:nvPr/>
        </p:nvPicPr>
        <p:blipFill>
          <a:blip r:embed="rId2"/>
          <a:stretch/>
        </p:blipFill>
        <p:spPr>
          <a:xfrm>
            <a:off x="842040" y="401976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79" name="Text 8"/>
          <p:cNvSpPr/>
          <p:nvPr/>
        </p:nvSpPr>
        <p:spPr>
          <a:xfrm>
            <a:off x="1600200" y="37994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UT2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1600200" y="411012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Hardware y requisitos de instalación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9966960" y="379944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10h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640080" y="4937760"/>
            <a:ext cx="101498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640080" y="537228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4" name="Image 2" descr="icons/cloud_white.png"/>
          <p:cNvPicPr/>
          <p:nvPr/>
        </p:nvPicPr>
        <p:blipFill>
          <a:blip r:embed="rId3"/>
          <a:stretch/>
        </p:blipFill>
        <p:spPr>
          <a:xfrm>
            <a:off x="842040" y="55742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85" name="Text 13"/>
          <p:cNvSpPr/>
          <p:nvPr/>
        </p:nvSpPr>
        <p:spPr>
          <a:xfrm>
            <a:off x="1600200" y="53539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UT3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600200" y="566460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Virtualización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5"/>
          <p:cNvSpPr/>
          <p:nvPr/>
        </p:nvSpPr>
        <p:spPr>
          <a:xfrm>
            <a:off x="9966960" y="535392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14h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7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2ª EVALUACIÓN · 42H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Windows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640080" y="226332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0" descr="icons/desktop_white.png"/>
          <p:cNvPicPr/>
          <p:nvPr/>
        </p:nvPicPr>
        <p:blipFill>
          <a:blip r:embed="rId1"/>
          <a:stretch/>
        </p:blipFill>
        <p:spPr>
          <a:xfrm>
            <a:off x="842040" y="24652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194" name="Text 3"/>
          <p:cNvSpPr/>
          <p:nvPr/>
        </p:nvSpPr>
        <p:spPr>
          <a:xfrm>
            <a:off x="1600200" y="22449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UT4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1600200" y="255564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Instalación de Windows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5852160" y="224496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12h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640080" y="338328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640080" y="3817800"/>
            <a:ext cx="776880" cy="77688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9" name="Image 1" descr="icons/cogs_white.png"/>
          <p:cNvPicPr/>
          <p:nvPr/>
        </p:nvPicPr>
        <p:blipFill>
          <a:blip r:embed="rId2"/>
          <a:stretch/>
        </p:blipFill>
        <p:spPr>
          <a:xfrm>
            <a:off x="842040" y="401976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00" name="Text 8"/>
          <p:cNvSpPr/>
          <p:nvPr/>
        </p:nvSpPr>
        <p:spPr>
          <a:xfrm>
            <a:off x="1600200" y="37994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UT5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1600200" y="41101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Configuración básica de Windows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5852160" y="379944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14h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640080" y="493776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640080" y="537228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5" name="Image 2" descr="icons/shield_white.png"/>
          <p:cNvPicPr/>
          <p:nvPr/>
        </p:nvPicPr>
        <p:blipFill>
          <a:blip r:embed="rId3"/>
          <a:stretch/>
        </p:blipFill>
        <p:spPr>
          <a:xfrm>
            <a:off x="842040" y="55742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06" name="Text 13"/>
          <p:cNvSpPr/>
          <p:nvPr/>
        </p:nvSpPr>
        <p:spPr>
          <a:xfrm>
            <a:off x="1600200" y="53539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UT6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1600200" y="56646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Administración de Windows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852160" y="535392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16h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6"/>
          <p:cNvSpPr/>
          <p:nvPr/>
        </p:nvSpPr>
        <p:spPr>
          <a:xfrm>
            <a:off x="7680960" y="1874520"/>
            <a:ext cx="3885840" cy="4617360"/>
          </a:xfrm>
          <a:prstGeom prst="roundRect">
            <a:avLst>
              <a:gd name="adj" fmla="val 2824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7"/>
          <p:cNvSpPr/>
          <p:nvPr/>
        </p:nvSpPr>
        <p:spPr>
          <a:xfrm>
            <a:off x="8001000" y="2194560"/>
            <a:ext cx="822600" cy="82260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1" name="Image 3" descr="icons/terminal_green.png"/>
          <p:cNvPicPr/>
          <p:nvPr/>
        </p:nvPicPr>
        <p:blipFill>
          <a:blip r:embed="rId4"/>
          <a:stretch/>
        </p:blipFill>
        <p:spPr>
          <a:xfrm>
            <a:off x="8214840" y="240840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12" name="Text 18"/>
          <p:cNvSpPr/>
          <p:nvPr/>
        </p:nvSpPr>
        <p:spPr>
          <a:xfrm>
            <a:off x="8001000" y="320040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PowerShell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8001000" y="3794760"/>
            <a:ext cx="32914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Toda la línea de comandos de esta evaluación se trabaja con PowerShell: cmdlets, pipeline de objetos, y su aplicación a red, usuarios y permisos NTFS.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0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3ª EVALUACIÓN · 42H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Linux y cierre del proyecto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640080" y="206892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9" name="Image 0" descr="icons/hdd_white.png"/>
          <p:cNvPicPr/>
          <p:nvPr/>
        </p:nvPicPr>
        <p:blipFill>
          <a:blip r:embed="rId1"/>
          <a:stretch/>
        </p:blipFill>
        <p:spPr>
          <a:xfrm>
            <a:off x="842040" y="227088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20" name="Text 3"/>
          <p:cNvSpPr/>
          <p:nvPr/>
        </p:nvSpPr>
        <p:spPr>
          <a:xfrm>
            <a:off x="1600200" y="20505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UT7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600200" y="23616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Instalación de Linux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5852160" y="205056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10h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640080" y="299448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640080" y="3234600"/>
            <a:ext cx="776880" cy="77688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Image 1" descr="icons/cogs_white.png"/>
          <p:cNvPicPr/>
          <p:nvPr/>
        </p:nvPicPr>
        <p:blipFill>
          <a:blip r:embed="rId2"/>
          <a:stretch/>
        </p:blipFill>
        <p:spPr>
          <a:xfrm>
            <a:off x="842040" y="343692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26" name="Text 8"/>
          <p:cNvSpPr/>
          <p:nvPr/>
        </p:nvSpPr>
        <p:spPr>
          <a:xfrm>
            <a:off x="1600200" y="32162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UT8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1600200" y="352728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Configuración básica de Linux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0"/>
          <p:cNvSpPr/>
          <p:nvPr/>
        </p:nvSpPr>
        <p:spPr>
          <a:xfrm>
            <a:off x="5852160" y="321624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10h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1"/>
          <p:cNvSpPr/>
          <p:nvPr/>
        </p:nvSpPr>
        <p:spPr>
          <a:xfrm>
            <a:off x="640080" y="416052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2"/>
          <p:cNvSpPr/>
          <p:nvPr/>
        </p:nvSpPr>
        <p:spPr>
          <a:xfrm>
            <a:off x="640080" y="4400640"/>
            <a:ext cx="776880" cy="7768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1" name="Image 2" descr="icons/shield_white.png"/>
          <p:cNvPicPr/>
          <p:nvPr/>
        </p:nvPicPr>
        <p:blipFill>
          <a:blip r:embed="rId3"/>
          <a:stretch/>
        </p:blipFill>
        <p:spPr>
          <a:xfrm>
            <a:off x="842040" y="460260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32" name="Text 13"/>
          <p:cNvSpPr/>
          <p:nvPr/>
        </p:nvSpPr>
        <p:spPr>
          <a:xfrm>
            <a:off x="1600200" y="438228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UT9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4"/>
          <p:cNvSpPr/>
          <p:nvPr/>
        </p:nvSpPr>
        <p:spPr>
          <a:xfrm>
            <a:off x="1600200" y="46933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Administración de Linux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5852160" y="438228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12h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640080" y="5326200"/>
            <a:ext cx="6035040" cy="360"/>
          </a:xfrm>
          <a:prstGeom prst="line">
            <a:avLst/>
          </a:prstGeom>
          <a:ln w="12700">
            <a:solidFill>
              <a:srgbClr val="e4e9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7"/>
          <p:cNvSpPr/>
          <p:nvPr/>
        </p:nvSpPr>
        <p:spPr>
          <a:xfrm>
            <a:off x="640080" y="5566320"/>
            <a:ext cx="776880" cy="77688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Image 3" descr="icons/exchange_white.png"/>
          <p:cNvPicPr/>
          <p:nvPr/>
        </p:nvPicPr>
        <p:blipFill>
          <a:blip r:embed="rId4"/>
          <a:stretch/>
        </p:blipFill>
        <p:spPr>
          <a:xfrm>
            <a:off x="842040" y="57686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238" name="Text 18"/>
          <p:cNvSpPr/>
          <p:nvPr/>
        </p:nvSpPr>
        <p:spPr>
          <a:xfrm>
            <a:off x="1600200" y="55479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b6b7f"/>
                </a:solidFill>
                <a:latin typeface="Cambria"/>
                <a:ea typeface="Cambria"/>
              </a:rPr>
              <a:t>UT10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1600200" y="58590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libri"/>
                <a:ea typeface="Calibri"/>
              </a:rPr>
              <a:t>Compartición de archivos y cierre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5852160" y="5547960"/>
            <a:ext cx="914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fa4b9"/>
                </a:solidFill>
                <a:latin typeface="Cambria"/>
                <a:ea typeface="Cambria"/>
              </a:rPr>
              <a:t>10h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7680960" y="1874520"/>
            <a:ext cx="3885840" cy="4617360"/>
          </a:xfrm>
          <a:prstGeom prst="roundRect">
            <a:avLst>
              <a:gd name="adj" fmla="val 2824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22"/>
          <p:cNvSpPr/>
          <p:nvPr/>
        </p:nvSpPr>
        <p:spPr>
          <a:xfrm>
            <a:off x="8001000" y="2194560"/>
            <a:ext cx="822600" cy="82260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" name="Image 4" descr="icons/terminal_green.png"/>
          <p:cNvPicPr/>
          <p:nvPr/>
        </p:nvPicPr>
        <p:blipFill>
          <a:blip r:embed="rId5"/>
          <a:stretch/>
        </p:blipFill>
        <p:spPr>
          <a:xfrm>
            <a:off x="8214840" y="240840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44" name="Text 23"/>
          <p:cNvSpPr/>
          <p:nvPr/>
        </p:nvSpPr>
        <p:spPr>
          <a:xfrm>
            <a:off x="8001000" y="320040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Bash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8001000" y="3794760"/>
            <a:ext cx="32914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La terminal Bash se introduce en la UT8 y se usa en el resto del bloque: navegación, permisos, procesos, y conexión al servidor Samba centralizado.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9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CONTENIDO DESTACADO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Permisos: NTFS frente a Linux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640080" y="1828800"/>
            <a:ext cx="5211720" cy="420588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640080" y="1828800"/>
            <a:ext cx="5211720" cy="77688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640080" y="2212920"/>
            <a:ext cx="5211720" cy="39276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960120" y="182880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Windows · NTFS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960120" y="2880360"/>
            <a:ext cx="45716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Permisos básicos y especiales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Permitir / Denegar (Denegar siempre gana)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Herencia entre carpetas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Permisos efectivos por grupo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Propietario y toma de posesión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6217920" y="1828800"/>
            <a:ext cx="5211720" cy="420588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6217920" y="1828800"/>
            <a:ext cx="5211720" cy="776880"/>
          </a:xfrm>
          <a:prstGeom prst="roundRect">
            <a:avLst>
              <a:gd name="adj" fmla="val 14118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6217920" y="2212920"/>
            <a:ext cx="5211720" cy="392760"/>
          </a:xfrm>
          <a:prstGeom prst="rect">
            <a:avLst/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6537960" y="182880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Linux · chmod y ACL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6537960" y="2880360"/>
            <a:ext cx="45716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rwx para propietario, grupo y otros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SUID, SGID y sticky bit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umask por defecto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ACL con setfacl / getfacl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 marL="279360" indent="-279360" defTabSz="914400">
              <a:lnSpc>
                <a:spcPct val="110000"/>
              </a:lnSpc>
              <a:spcAft>
                <a:spcPts val="1400"/>
              </a:spcAft>
              <a:buClr>
                <a:srgbClr val="1b2a4a"/>
              </a:buClr>
              <a:buFont typeface="OpenSymbol"/>
              <a:buChar char="✓"/>
            </a:pPr>
            <a:r>
              <a:rPr b="0" lang="en-US" sz="1350" spc="-1" strike="noStrike">
                <a:solidFill>
                  <a:srgbClr val="1b2a4a"/>
                </a:solidFill>
                <a:latin typeface="Calibri"/>
                <a:ea typeface="Calibri"/>
              </a:rPr>
              <a:t>Combinación con recursos Samba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CURSO 2026-2027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Programación temporal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64008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Sep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17283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Oct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281628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Nov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39045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Dic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499248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Ene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60807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Feb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716904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Mar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82569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Abr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934524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May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10433160" y="1965960"/>
            <a:ext cx="1087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Jun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2"/>
          <p:cNvSpPr/>
          <p:nvPr/>
        </p:nvSpPr>
        <p:spPr>
          <a:xfrm>
            <a:off x="640080" y="2331720"/>
            <a:ext cx="10881360" cy="360"/>
          </a:xfrm>
          <a:prstGeom prst="line">
            <a:avLst/>
          </a:prstGeom>
          <a:ln w="12700">
            <a:solidFill>
              <a:srgbClr val="d7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640080" y="2651760"/>
            <a:ext cx="3264120" cy="50256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777240" y="2651760"/>
            <a:ext cx="298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1ª evaluación · 36h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5"/>
          <p:cNvSpPr/>
          <p:nvPr/>
        </p:nvSpPr>
        <p:spPr>
          <a:xfrm>
            <a:off x="3904560" y="3520440"/>
            <a:ext cx="3590640" cy="502560"/>
          </a:xfrm>
          <a:prstGeom prst="roundRect">
            <a:avLst>
              <a:gd name="adj" fmla="val 10909"/>
            </a:avLst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6"/>
          <p:cNvSpPr/>
          <p:nvPr/>
        </p:nvSpPr>
        <p:spPr>
          <a:xfrm>
            <a:off x="4041720" y="3520440"/>
            <a:ext cx="331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2ª evaluación · 42h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7"/>
          <p:cNvSpPr/>
          <p:nvPr/>
        </p:nvSpPr>
        <p:spPr>
          <a:xfrm>
            <a:off x="7495200" y="4389120"/>
            <a:ext cx="4025880" cy="502560"/>
          </a:xfrm>
          <a:prstGeom prst="roundRect">
            <a:avLst>
              <a:gd name="adj" fmla="val 10909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8"/>
          <p:cNvSpPr/>
          <p:nvPr/>
        </p:nvSpPr>
        <p:spPr>
          <a:xfrm>
            <a:off x="7632360" y="4389120"/>
            <a:ext cx="375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3ª evaluación · 42h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9"/>
          <p:cNvSpPr/>
          <p:nvPr/>
        </p:nvSpPr>
        <p:spPr>
          <a:xfrm>
            <a:off x="3904200" y="2514600"/>
            <a:ext cx="360" cy="2651760"/>
          </a:xfrm>
          <a:prstGeom prst="line">
            <a:avLst/>
          </a:prstGeom>
          <a:ln w="19050">
            <a:solidFill>
              <a:srgbClr val="2ecc7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20"/>
          <p:cNvSpPr/>
          <p:nvPr/>
        </p:nvSpPr>
        <p:spPr>
          <a:xfrm>
            <a:off x="340164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8449"/>
                </a:solidFill>
                <a:latin typeface="Calibri"/>
                <a:ea typeface="Calibri"/>
              </a:rPr>
              <a:t>1 dic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1"/>
          <p:cNvSpPr/>
          <p:nvPr/>
        </p:nvSpPr>
        <p:spPr>
          <a:xfrm>
            <a:off x="7495200" y="2514600"/>
            <a:ext cx="360" cy="2651760"/>
          </a:xfrm>
          <a:prstGeom prst="line">
            <a:avLst/>
          </a:prstGeom>
          <a:ln w="19050">
            <a:solidFill>
              <a:srgbClr val="2ecc7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22"/>
          <p:cNvSpPr/>
          <p:nvPr/>
        </p:nvSpPr>
        <p:spPr>
          <a:xfrm>
            <a:off x="699228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8449"/>
                </a:solidFill>
                <a:latin typeface="Calibri"/>
                <a:ea typeface="Calibri"/>
              </a:rPr>
              <a:t>9 mar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3"/>
          <p:cNvSpPr/>
          <p:nvPr/>
        </p:nvSpPr>
        <p:spPr>
          <a:xfrm>
            <a:off x="11521440" y="2514600"/>
            <a:ext cx="360" cy="2651760"/>
          </a:xfrm>
          <a:prstGeom prst="line">
            <a:avLst/>
          </a:prstGeom>
          <a:ln w="19050">
            <a:solidFill>
              <a:srgbClr val="2ecc7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24"/>
          <p:cNvSpPr/>
          <p:nvPr/>
        </p:nvSpPr>
        <p:spPr>
          <a:xfrm>
            <a:off x="1101852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8449"/>
                </a:solidFill>
                <a:latin typeface="Calibri"/>
                <a:ea typeface="Calibri"/>
              </a:rPr>
              <a:t>14 jun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25"/>
          <p:cNvSpPr/>
          <p:nvPr/>
        </p:nvSpPr>
        <p:spPr>
          <a:xfrm>
            <a:off x="640080" y="5806440"/>
            <a:ext cx="10881000" cy="621360"/>
          </a:xfrm>
          <a:prstGeom prst="roundRect">
            <a:avLst>
              <a:gd name="adj" fmla="val 11765"/>
            </a:avLst>
          </a:prstGeom>
          <a:solidFill>
            <a:srgbClr val="ea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6"/>
          <p:cNvSpPr/>
          <p:nvPr/>
        </p:nvSpPr>
        <p:spPr>
          <a:xfrm>
            <a:off x="914400" y="5806440"/>
            <a:ext cx="10332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1b2a4a"/>
                </a:solidFill>
                <a:latin typeface="Calibri"/>
                <a:ea typeface="Calibri"/>
              </a:rPr>
              <a:t>2 semanas de exámenes antes de cada evaluación  ·  Vacaciones de Navidad y Fallas/Semana Santa ajustadas al calendario oficial del centro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27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28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CALIFICACIÓN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Sistema de evaluación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2"/>
          <p:cNvSpPr/>
          <p:nvPr/>
        </p:nvSpPr>
        <p:spPr>
          <a:xfrm>
            <a:off x="640080" y="182880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914400" y="2121480"/>
            <a:ext cx="685440" cy="6854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5" name="Image 0" descr="icons/clipboard_white.png"/>
          <p:cNvPicPr/>
          <p:nvPr/>
        </p:nvPicPr>
        <p:blipFill>
          <a:blip r:embed="rId1"/>
          <a:stretch/>
        </p:blipFill>
        <p:spPr>
          <a:xfrm>
            <a:off x="1092600" y="22996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96" name="Text 4"/>
          <p:cNvSpPr/>
          <p:nvPr/>
        </p:nvSpPr>
        <p:spPr>
          <a:xfrm>
            <a:off x="1828800" y="2084760"/>
            <a:ext cx="2239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80%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914400" y="306324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Exámenes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teórico-prácticos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6"/>
          <p:cNvSpPr/>
          <p:nvPr/>
        </p:nvSpPr>
        <p:spPr>
          <a:xfrm>
            <a:off x="4526280" y="182880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4800600" y="2121480"/>
            <a:ext cx="685440" cy="6854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0" name="Image 1" descr="icons/project_white.png"/>
          <p:cNvPicPr/>
          <p:nvPr/>
        </p:nvPicPr>
        <p:blipFill>
          <a:blip r:embed="rId2"/>
          <a:stretch/>
        </p:blipFill>
        <p:spPr>
          <a:xfrm>
            <a:off x="4978800" y="22996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01" name="Text 8"/>
          <p:cNvSpPr/>
          <p:nvPr/>
        </p:nvSpPr>
        <p:spPr>
          <a:xfrm>
            <a:off x="5715000" y="2084760"/>
            <a:ext cx="2239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20%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4800600" y="306324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Prácticas del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proyecto TechPyme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0"/>
          <p:cNvSpPr/>
          <p:nvPr/>
        </p:nvSpPr>
        <p:spPr>
          <a:xfrm>
            <a:off x="8412480" y="1828800"/>
            <a:ext cx="3154320" cy="1965600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1"/>
          <p:cNvSpPr/>
          <p:nvPr/>
        </p:nvSpPr>
        <p:spPr>
          <a:xfrm>
            <a:off x="8641080" y="19933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fa4b9"/>
                </a:solidFill>
                <a:latin typeface="Calibri"/>
                <a:ea typeface="Calibri"/>
              </a:rPr>
              <a:t>Rúbrica de prácticas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8641080" y="2331720"/>
            <a:ext cx="2742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  <a:ea typeface="Calibri"/>
              </a:rPr>
              <a:t>Funcionalidad técnica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  <a:ea typeface="Calibri"/>
              </a:rPr>
              <a:t>Aplicación de conceptos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  <a:ea typeface="Calibri"/>
              </a:rPr>
              <a:t>Documentación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  <a:ea typeface="Calibri"/>
              </a:rPr>
              <a:t>Autonomía y entrega en plazo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3"/>
          <p:cNvSpPr/>
          <p:nvPr/>
        </p:nvSpPr>
        <p:spPr>
          <a:xfrm>
            <a:off x="640080" y="4160520"/>
            <a:ext cx="10926720" cy="18284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914400" y="43707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cc71"/>
                </a:solidFill>
                <a:latin typeface="Calibri"/>
                <a:ea typeface="Calibri"/>
              </a:rPr>
              <a:t>Nota final del curso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5"/>
          <p:cNvSpPr/>
          <p:nvPr/>
        </p:nvSpPr>
        <p:spPr>
          <a:xfrm>
            <a:off x="914400" y="470916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Ponderada por el peso horario de cada evaluación sobre las 120 horas del módulo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6"/>
          <p:cNvSpPr/>
          <p:nvPr/>
        </p:nvSpPr>
        <p:spPr>
          <a:xfrm>
            <a:off x="6492240" y="448056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30%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7"/>
          <p:cNvSpPr/>
          <p:nvPr/>
        </p:nvSpPr>
        <p:spPr>
          <a:xfrm>
            <a:off x="6492240" y="5074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1ª eval.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8"/>
          <p:cNvSpPr/>
          <p:nvPr/>
        </p:nvSpPr>
        <p:spPr>
          <a:xfrm>
            <a:off x="8183880" y="448056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35%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9"/>
          <p:cNvSpPr/>
          <p:nvPr/>
        </p:nvSpPr>
        <p:spPr>
          <a:xfrm>
            <a:off x="8183880" y="5074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2ª eval.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20"/>
          <p:cNvSpPr/>
          <p:nvPr/>
        </p:nvSpPr>
        <p:spPr>
          <a:xfrm>
            <a:off x="9875520" y="448056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35%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1"/>
          <p:cNvSpPr/>
          <p:nvPr/>
        </p:nvSpPr>
        <p:spPr>
          <a:xfrm>
            <a:off x="9875520" y="5074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3ª eval.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22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23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NORMAS DEL MÓDULO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Observaciones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"/>
          <p:cNvSpPr/>
          <p:nvPr/>
        </p:nvSpPr>
        <p:spPr>
          <a:xfrm>
            <a:off x="640080" y="1874520"/>
            <a:ext cx="10926720" cy="141696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960120" y="2171880"/>
            <a:ext cx="822600" cy="82260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1" name="Image 0" descr="icons/tasks_white.png"/>
          <p:cNvPicPr/>
          <p:nvPr/>
        </p:nvPicPr>
        <p:blipFill>
          <a:blip r:embed="rId1"/>
          <a:stretch/>
        </p:blipFill>
        <p:spPr>
          <a:xfrm>
            <a:off x="1173960" y="238572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322" name="Text 4"/>
          <p:cNvSpPr/>
          <p:nvPr/>
        </p:nvSpPr>
        <p:spPr>
          <a:xfrm>
            <a:off x="2103120" y="210312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Entrega obligatoria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2103120" y="2532960"/>
            <a:ext cx="90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La entrega de las actividades es obligatoria para que el alumno sea evaluado.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6"/>
          <p:cNvSpPr/>
          <p:nvPr/>
        </p:nvSpPr>
        <p:spPr>
          <a:xfrm>
            <a:off x="640080" y="3429000"/>
            <a:ext cx="10926720" cy="141696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960120" y="3726360"/>
            <a:ext cx="822600" cy="822600"/>
          </a:xfrm>
          <a:prstGeom prst="ellipse">
            <a:avLst/>
          </a:prstGeom>
          <a:solidFill>
            <a:srgbClr val="a932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6" name="Image 1" descr="icons/lock_white.png"/>
          <p:cNvPicPr/>
          <p:nvPr/>
        </p:nvPicPr>
        <p:blipFill>
          <a:blip r:embed="rId2"/>
          <a:stretch/>
        </p:blipFill>
        <p:spPr>
          <a:xfrm>
            <a:off x="1173960" y="394020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327" name="Text 8"/>
          <p:cNvSpPr/>
          <p:nvPr/>
        </p:nvSpPr>
        <p:spPr>
          <a:xfrm>
            <a:off x="2103120" y="365760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Copia = calificación 0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2103120" y="4087440"/>
            <a:ext cx="90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Si el profesor detecta que el alumno ha copiado en las prácticas o en los exámenes, la calificación de la práctica o examen será de 0.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640080" y="4983480"/>
            <a:ext cx="10926720" cy="141696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1"/>
          <p:cNvSpPr/>
          <p:nvPr/>
        </p:nvSpPr>
        <p:spPr>
          <a:xfrm>
            <a:off x="960120" y="5280840"/>
            <a:ext cx="822600" cy="82260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1" name="Image 2" descr="icons/usershield_white.png"/>
          <p:cNvPicPr/>
          <p:nvPr/>
        </p:nvPicPr>
        <p:blipFill>
          <a:blip r:embed="rId3"/>
          <a:stretch/>
        </p:blipFill>
        <p:spPr>
          <a:xfrm>
            <a:off x="1173960" y="549468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332" name="Text 12"/>
          <p:cNvSpPr/>
          <p:nvPr/>
        </p:nvSpPr>
        <p:spPr>
          <a:xfrm>
            <a:off x="2103120" y="521208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a4a"/>
                </a:solidFill>
                <a:latin typeface="Cambria"/>
                <a:ea typeface="Cambria"/>
              </a:rPr>
              <a:t>Derecho de validación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3"/>
          <p:cNvSpPr/>
          <p:nvPr/>
        </p:nvSpPr>
        <p:spPr>
          <a:xfrm>
            <a:off x="2103120" y="5641920"/>
            <a:ext cx="90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El profesor se reserva el derecho a validar los exámenes y actividades para comprobar que el alumno no se ha copiado.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14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RECURSOS DEL MÓDULO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Materiales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640080" y="17830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2fa4b9"/>
                </a:solidFill>
                <a:latin typeface="Calibri"/>
                <a:ea typeface="Calibri"/>
              </a:rPr>
              <a:t>FUENTES DE INFORMACIÓN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"/>
          <p:cNvSpPr/>
          <p:nvPr/>
        </p:nvSpPr>
        <p:spPr>
          <a:xfrm>
            <a:off x="640080" y="219456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0" name="Image 0" descr="icons/book_white.png"/>
          <p:cNvPicPr/>
          <p:nvPr/>
        </p:nvPicPr>
        <p:blipFill>
          <a:blip r:embed="rId1"/>
          <a:stretch/>
        </p:blipFill>
        <p:spPr>
          <a:xfrm>
            <a:off x="801720" y="235620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41" name="Text 4"/>
          <p:cNvSpPr/>
          <p:nvPr/>
        </p:nvSpPr>
        <p:spPr>
          <a:xfrm>
            <a:off x="1417320" y="217620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Sin libro de texto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1417320" y="252360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Apuntes elaborados por el profesor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640080" y="3127320"/>
            <a:ext cx="621360" cy="62136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4" name="Image 1" descr="icons/network_white.png"/>
          <p:cNvPicPr/>
          <p:nvPr/>
        </p:nvPicPr>
        <p:blipFill>
          <a:blip r:embed="rId2"/>
          <a:stretch/>
        </p:blipFill>
        <p:spPr>
          <a:xfrm>
            <a:off x="801720" y="328896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45" name="Text 7"/>
          <p:cNvSpPr/>
          <p:nvPr/>
        </p:nvSpPr>
        <p:spPr>
          <a:xfrm>
            <a:off x="1417320" y="310896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Información de Internet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8"/>
          <p:cNvSpPr/>
          <p:nvPr/>
        </p:nvSpPr>
        <p:spPr>
          <a:xfrm>
            <a:off x="1417320" y="345636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Documentación técnica y oficial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9"/>
          <p:cNvSpPr/>
          <p:nvPr/>
        </p:nvSpPr>
        <p:spPr>
          <a:xfrm>
            <a:off x="640080" y="4060080"/>
            <a:ext cx="621360" cy="6213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8" name="Image 2" descr="icons/clipboard_white.png"/>
          <p:cNvPicPr/>
          <p:nvPr/>
        </p:nvPicPr>
        <p:blipFill>
          <a:blip r:embed="rId3"/>
          <a:stretch/>
        </p:blipFill>
        <p:spPr>
          <a:xfrm>
            <a:off x="801720" y="422172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49" name="Text 10"/>
          <p:cNvSpPr/>
          <p:nvPr/>
        </p:nvSpPr>
        <p:spPr>
          <a:xfrm>
            <a:off x="1417320" y="40417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Artículos de revistas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1417320" y="438912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Publicaciones especializadas del sector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640080" y="4992480"/>
            <a:ext cx="621360" cy="62136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2" name="Image 3" descr="icons/desktop_white.png"/>
          <p:cNvPicPr/>
          <p:nvPr/>
        </p:nvPicPr>
        <p:blipFill>
          <a:blip r:embed="rId4"/>
          <a:stretch/>
        </p:blipFill>
        <p:spPr>
          <a:xfrm>
            <a:off x="801720" y="515412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353" name="Text 13"/>
          <p:cNvSpPr/>
          <p:nvPr/>
        </p:nvSpPr>
        <p:spPr>
          <a:xfrm>
            <a:off x="1417320" y="497448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  <a:ea typeface="Calibri"/>
              </a:rPr>
              <a:t>Plataforma Aules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1417320" y="532188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E-Learning para entrega de actividades y comunicación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6949440" y="17830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2fa4b9"/>
                </a:solidFill>
                <a:latin typeface="Calibri"/>
                <a:ea typeface="Calibri"/>
              </a:rPr>
              <a:t>SOFTWARE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6"/>
          <p:cNvSpPr/>
          <p:nvPr/>
        </p:nvSpPr>
        <p:spPr>
          <a:xfrm>
            <a:off x="6949440" y="2194560"/>
            <a:ext cx="4617360" cy="191988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7"/>
          <p:cNvSpPr/>
          <p:nvPr/>
        </p:nvSpPr>
        <p:spPr>
          <a:xfrm>
            <a:off x="7223760" y="2468880"/>
            <a:ext cx="731160" cy="7311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8" name="Image 4" descr="icons/cogs_white.png"/>
          <p:cNvPicPr/>
          <p:nvPr/>
        </p:nvPicPr>
        <p:blipFill>
          <a:blip r:embed="rId5"/>
          <a:stretch/>
        </p:blipFill>
        <p:spPr>
          <a:xfrm>
            <a:off x="7413840" y="2658960"/>
            <a:ext cx="350640" cy="350640"/>
          </a:xfrm>
          <a:prstGeom prst="rect">
            <a:avLst/>
          </a:prstGeom>
          <a:ln w="0">
            <a:noFill/>
          </a:ln>
        </p:spPr>
      </p:pic>
      <p:sp>
        <p:nvSpPr>
          <p:cNvPr id="359" name="Text 18"/>
          <p:cNvSpPr/>
          <p:nvPr/>
        </p:nvSpPr>
        <p:spPr>
          <a:xfrm>
            <a:off x="7223760" y="33375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Aplicacions Ofimàtiques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19"/>
          <p:cNvSpPr/>
          <p:nvPr/>
        </p:nvSpPr>
        <p:spPr>
          <a:xfrm>
            <a:off x="7223760" y="367596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Suite ofimática para documentación y entregas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20"/>
          <p:cNvSpPr/>
          <p:nvPr/>
        </p:nvSpPr>
        <p:spPr>
          <a:xfrm>
            <a:off x="6949440" y="4343400"/>
            <a:ext cx="4617360" cy="191988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1"/>
          <p:cNvSpPr/>
          <p:nvPr/>
        </p:nvSpPr>
        <p:spPr>
          <a:xfrm>
            <a:off x="7223760" y="4617720"/>
            <a:ext cx="731160" cy="7311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3" name="Image 5" descr="icons/cloud_white.png"/>
          <p:cNvPicPr/>
          <p:nvPr/>
        </p:nvPicPr>
        <p:blipFill>
          <a:blip r:embed="rId6"/>
          <a:stretch/>
        </p:blipFill>
        <p:spPr>
          <a:xfrm>
            <a:off x="7413840" y="4807800"/>
            <a:ext cx="350640" cy="350640"/>
          </a:xfrm>
          <a:prstGeom prst="rect">
            <a:avLst/>
          </a:prstGeom>
          <a:ln w="0">
            <a:noFill/>
          </a:ln>
        </p:spPr>
      </p:pic>
      <p:sp>
        <p:nvSpPr>
          <p:cNvPr id="364" name="Text 22"/>
          <p:cNvSpPr/>
          <p:nvPr/>
        </p:nvSpPr>
        <p:spPr>
          <a:xfrm>
            <a:off x="7223760" y="548640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VirtualBox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23"/>
          <p:cNvSpPr/>
          <p:nvPr/>
        </p:nvSpPr>
        <p:spPr>
          <a:xfrm>
            <a:off x="7223760" y="582480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Software de virtualització per a les màquines de TechPyme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24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25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/>
          <p:nvPr/>
        </p:nvSpPr>
        <p:spPr>
          <a:xfrm>
            <a:off x="640080" y="384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ENTORNO DE TRABAJO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640080" y="6858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Herramientas y recursos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"/>
          <p:cNvSpPr/>
          <p:nvPr/>
        </p:nvSpPr>
        <p:spPr>
          <a:xfrm>
            <a:off x="640080" y="187452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3"/>
          <p:cNvSpPr/>
          <p:nvPr/>
        </p:nvSpPr>
        <p:spPr>
          <a:xfrm>
            <a:off x="914400" y="2331720"/>
            <a:ext cx="685440" cy="6854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2" name="Image 0" descr="icons/cloud_white.png"/>
          <p:cNvPicPr/>
          <p:nvPr/>
        </p:nvPicPr>
        <p:blipFill>
          <a:blip r:embed="rId1"/>
          <a:stretch/>
        </p:blipFill>
        <p:spPr>
          <a:xfrm>
            <a:off x="1092600" y="2509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73" name="Text 4"/>
          <p:cNvSpPr/>
          <p:nvPr/>
        </p:nvSpPr>
        <p:spPr>
          <a:xfrm>
            <a:off x="1783080" y="213048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VirtualBox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1783080" y="24962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Hipervisor para las VMs de TechPyme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6"/>
          <p:cNvSpPr/>
          <p:nvPr/>
        </p:nvSpPr>
        <p:spPr>
          <a:xfrm>
            <a:off x="4343400" y="187452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7"/>
          <p:cNvSpPr/>
          <p:nvPr/>
        </p:nvSpPr>
        <p:spPr>
          <a:xfrm>
            <a:off x="4617720" y="2331720"/>
            <a:ext cx="685440" cy="6854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7" name="Image 1" descr="icons/terminal_white.png"/>
          <p:cNvPicPr/>
          <p:nvPr/>
        </p:nvPicPr>
        <p:blipFill>
          <a:blip r:embed="rId2"/>
          <a:stretch/>
        </p:blipFill>
        <p:spPr>
          <a:xfrm>
            <a:off x="4795920" y="2509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78" name="Text 8"/>
          <p:cNvSpPr/>
          <p:nvPr/>
        </p:nvSpPr>
        <p:spPr>
          <a:xfrm>
            <a:off x="5486400" y="213048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PowerShell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9"/>
          <p:cNvSpPr/>
          <p:nvPr/>
        </p:nvSpPr>
        <p:spPr>
          <a:xfrm>
            <a:off x="5486400" y="24962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Administración de Windows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0"/>
          <p:cNvSpPr/>
          <p:nvPr/>
        </p:nvSpPr>
        <p:spPr>
          <a:xfrm>
            <a:off x="8046720" y="187452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1"/>
          <p:cNvSpPr/>
          <p:nvPr/>
        </p:nvSpPr>
        <p:spPr>
          <a:xfrm>
            <a:off x="8321040" y="2331720"/>
            <a:ext cx="685440" cy="6854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2" name="Image 2" descr="icons/terminal_white.png"/>
          <p:cNvPicPr/>
          <p:nvPr/>
        </p:nvPicPr>
        <p:blipFill>
          <a:blip r:embed="rId3"/>
          <a:stretch/>
        </p:blipFill>
        <p:spPr>
          <a:xfrm>
            <a:off x="8499240" y="2509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83" name="Text 12"/>
          <p:cNvSpPr/>
          <p:nvPr/>
        </p:nvSpPr>
        <p:spPr>
          <a:xfrm>
            <a:off x="9189720" y="213048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Bash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3"/>
          <p:cNvSpPr/>
          <p:nvPr/>
        </p:nvSpPr>
        <p:spPr>
          <a:xfrm>
            <a:off x="9189720" y="24962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Administración de Linux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4"/>
          <p:cNvSpPr/>
          <p:nvPr/>
        </p:nvSpPr>
        <p:spPr>
          <a:xfrm>
            <a:off x="640080" y="374904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5"/>
          <p:cNvSpPr/>
          <p:nvPr/>
        </p:nvSpPr>
        <p:spPr>
          <a:xfrm>
            <a:off x="914400" y="4206240"/>
            <a:ext cx="685440" cy="6854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7" name="Image 3" descr="icons/server_white.png"/>
          <p:cNvPicPr/>
          <p:nvPr/>
        </p:nvPicPr>
        <p:blipFill>
          <a:blip r:embed="rId4"/>
          <a:stretch/>
        </p:blipFill>
        <p:spPr>
          <a:xfrm>
            <a:off x="1092600" y="438444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88" name="Text 16"/>
          <p:cNvSpPr/>
          <p:nvPr/>
        </p:nvSpPr>
        <p:spPr>
          <a:xfrm>
            <a:off x="1783080" y="400500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Samba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7"/>
          <p:cNvSpPr/>
          <p:nvPr/>
        </p:nvSpPr>
        <p:spPr>
          <a:xfrm>
            <a:off x="1783080" y="437076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Servidor de ficheros centralizado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8"/>
          <p:cNvSpPr/>
          <p:nvPr/>
        </p:nvSpPr>
        <p:spPr>
          <a:xfrm>
            <a:off x="4343400" y="374904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19"/>
          <p:cNvSpPr/>
          <p:nvPr/>
        </p:nvSpPr>
        <p:spPr>
          <a:xfrm>
            <a:off x="4617720" y="4206240"/>
            <a:ext cx="685440" cy="6854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2" name="Image 4" descr="icons/book_white.png"/>
          <p:cNvPicPr/>
          <p:nvPr/>
        </p:nvPicPr>
        <p:blipFill>
          <a:blip r:embed="rId5"/>
          <a:stretch/>
        </p:blipFill>
        <p:spPr>
          <a:xfrm>
            <a:off x="4795920" y="438444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93" name="Text 20"/>
          <p:cNvSpPr/>
          <p:nvPr/>
        </p:nvSpPr>
        <p:spPr>
          <a:xfrm>
            <a:off x="5486400" y="400500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MkDocs Material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1"/>
          <p:cNvSpPr/>
          <p:nvPr/>
        </p:nvSpPr>
        <p:spPr>
          <a:xfrm>
            <a:off x="5486400" y="437076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Apuntes del curso, siempre accesibles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2"/>
          <p:cNvSpPr/>
          <p:nvPr/>
        </p:nvSpPr>
        <p:spPr>
          <a:xfrm>
            <a:off x="8046720" y="3749040"/>
            <a:ext cx="3428640" cy="15998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3"/>
          <p:cNvSpPr/>
          <p:nvPr/>
        </p:nvSpPr>
        <p:spPr>
          <a:xfrm>
            <a:off x="8321040" y="4206240"/>
            <a:ext cx="685440" cy="685440"/>
          </a:xfrm>
          <a:prstGeom prst="ellipse">
            <a:avLst/>
          </a:prstGeom>
          <a:solidFill>
            <a:srgbClr val="2fa4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7" name="Image 5" descr="icons/sitemap_white.png"/>
          <p:cNvPicPr/>
          <p:nvPr/>
        </p:nvPicPr>
        <p:blipFill>
          <a:blip r:embed="rId6"/>
          <a:stretch/>
        </p:blipFill>
        <p:spPr>
          <a:xfrm>
            <a:off x="8499240" y="438444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98" name="Text 24"/>
          <p:cNvSpPr/>
          <p:nvPr/>
        </p:nvSpPr>
        <p:spPr>
          <a:xfrm>
            <a:off x="9189720" y="400500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2a4a"/>
                </a:solidFill>
                <a:latin typeface="Calibri"/>
                <a:ea typeface="Calibri"/>
              </a:rPr>
              <a:t>Mermaid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25"/>
          <p:cNvSpPr/>
          <p:nvPr/>
        </p:nvSpPr>
        <p:spPr>
          <a:xfrm>
            <a:off x="9189720" y="437076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7f"/>
                </a:solidFill>
                <a:latin typeface="Calibri"/>
                <a:ea typeface="Calibri"/>
              </a:rPr>
              <a:t>Diagramas y planificación visual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26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27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f"/>
                </a:solidFill>
                <a:latin typeface="Calibri"/>
                <a:ea typeface="Calibri"/>
              </a:rPr>
              <a:t>15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0"/>
          <p:cNvSpPr/>
          <p:nvPr/>
        </p:nvSpPr>
        <p:spPr>
          <a:xfrm>
            <a:off x="-1645920" y="-1828800"/>
            <a:ext cx="5028840" cy="50288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1"/>
          <p:cNvSpPr/>
          <p:nvPr/>
        </p:nvSpPr>
        <p:spPr>
          <a:xfrm>
            <a:off x="9692640" y="3657600"/>
            <a:ext cx="4571640" cy="457164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2"/>
          <p:cNvSpPr/>
          <p:nvPr/>
        </p:nvSpPr>
        <p:spPr>
          <a:xfrm>
            <a:off x="5591520" y="1371600"/>
            <a:ext cx="1005480" cy="1005480"/>
          </a:xfrm>
          <a:prstGeom prst="ellipse">
            <a:avLst/>
          </a:prstGeom>
          <a:solidFill>
            <a:srgbClr val="1421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5" name="Image 0" descr="icons/check_green.png"/>
          <p:cNvPicPr/>
          <p:nvPr/>
        </p:nvPicPr>
        <p:blipFill>
          <a:blip r:embed="rId1"/>
          <a:stretch/>
        </p:blipFill>
        <p:spPr>
          <a:xfrm>
            <a:off x="5853240" y="1632960"/>
            <a:ext cx="482400" cy="482400"/>
          </a:xfrm>
          <a:prstGeom prst="rect">
            <a:avLst/>
          </a:prstGeom>
          <a:ln w="0">
            <a:noFill/>
          </a:ln>
        </p:spPr>
      </p:pic>
      <p:sp>
        <p:nvSpPr>
          <p:cNvPr id="406" name="Text 3"/>
          <p:cNvSpPr/>
          <p:nvPr/>
        </p:nvSpPr>
        <p:spPr>
          <a:xfrm>
            <a:off x="1371600" y="269748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2fa4b9"/>
                </a:solidFill>
                <a:latin typeface="Calibri"/>
                <a:ea typeface="Calibri"/>
              </a:rPr>
              <a:t>Al terminar el curso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914400" y="30632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TechPyme S.L. funcionando de principio a fin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1965960" y="3977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Windows y Linux configurados, permisos por departamento, y acceso funcional al servidor de ficheros centralizado.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5088600" y="4892040"/>
            <a:ext cx="2011680" cy="360"/>
          </a:xfrm>
          <a:prstGeom prst="line">
            <a:avLst/>
          </a:prstGeom>
          <a:ln w="381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1371600" y="512064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fa3c4"/>
                </a:solidFill>
                <a:latin typeface="Calibri"/>
                <a:ea typeface="Calibri"/>
              </a:rPr>
              <a:t>Apuntes completos del curso disponibles en MkDocs Material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Sistemas Operativos Monopuesto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9"/>
          <p:cNvSpPr/>
          <p:nvPr/>
        </p:nvSpPr>
        <p:spPr>
          <a:xfrm>
            <a:off x="112744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fa3c4"/>
                </a:solidFill>
                <a:latin typeface="Calibri"/>
                <a:ea typeface="Calibri"/>
              </a:rPr>
              <a:t>16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2026-09-01T15:40:11Z</dcterms:created>
  <dc:creator>PptxGenJS</dc:creator>
  <dc:description/>
  <dc:language>es-ES</dc:language>
  <cp:lastModifiedBy/>
  <dcterms:modified xsi:type="dcterms:W3CDTF">2026-09-09T16:15:10Z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