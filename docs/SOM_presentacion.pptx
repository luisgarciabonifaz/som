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2138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421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6" name="Image 0" descr="icons/deskto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83320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0" y="685800"/>
            <a:ext cx="566928" cy="566928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8" name="Image 1" descr="icons/serv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01" y="833201"/>
            <a:ext cx="272125" cy="272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49040" y="685800"/>
            <a:ext cx="566928" cy="566928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10" name="Image 2" descr="icons/terminal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441" y="833201"/>
            <a:ext cx="272125" cy="2721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212080" y="685800"/>
            <a:ext cx="566928" cy="566928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12" name="Image 3" descr="icons/netwo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81" y="833201"/>
            <a:ext cx="272125" cy="27212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DE GRADO MEDIO · SISTEMAS MICROINFORMÁTICOS Y REDES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822960" y="288036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Operativos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Monopuesto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4892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horas de formación eminentemente práctica, construidas alrededor de un único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conductor: el despliegue informático de TechPyme S.L.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del módulo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9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0391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hd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434" y="2200778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192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totales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9BD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5968" y="20391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634" y="220077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743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3192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9BD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9168" y="20391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c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834" y="220077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2743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3192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69680" y="178308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9BD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02368" y="20391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034" y="220077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69680" y="274320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33192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251960"/>
            <a:ext cx="10716768" cy="1828800"/>
          </a:xfrm>
          <a:prstGeom prst="roundRect">
            <a:avLst>
              <a:gd name="adj" fmla="val 5000"/>
            </a:avLst>
          </a:prstGeom>
          <a:solidFill>
            <a:srgbClr val="EAF3F5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7548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Eminentemente práctica: cada unidad combina teoría breve con ejercicios aplicados directamente sobre el proyecto TechPyme S.L.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172200" y="4526280"/>
            <a:ext cx="0" cy="1371600"/>
          </a:xfrm>
          <a:prstGeom prst="line">
            <a:avLst/>
          </a:prstGeom>
          <a:noFill/>
          <a:ln w="15875">
            <a:solidFill>
              <a:srgbClr val="C7D3E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46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horaria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44652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evaluación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y virtualización — 36h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evaluación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Windows — 42h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evaluación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Linux y cierre — 42h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CURRICULAR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aprendizaje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 ·  Sistemas de archivo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89888" y="20939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las características de los sistemas de archivo, describiendo sus tipos y aplicaciones.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icons/hd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991185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89888" y="2816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 ·  Instalación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89888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sistemas operativos, relacionando sus características con el hardware y el software.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90448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05188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89888" y="38770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 ·  Configuración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89888" y="42153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tareas básicas de configuración, interpretando requerimientos y procedimientos.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1783080"/>
            <a:ext cx="566928" cy="566928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7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193048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3448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RA4  ·  Administración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013448" y="20939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operaciones de administración, optimizando el sistema para su uso.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63640" y="2843784"/>
            <a:ext cx="566928" cy="566928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21" name="Image 4" descr="icons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041" y="299118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13448" y="2816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RA5  ·  Virtualización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013448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máquinas virtuales identificando su campo de aplicación e instalando software.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63640" y="3904488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EAF3F5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492240" y="40142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RA se trabajan de forma cruzada en las 3 evaluaciones, no de forma aislada.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138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005840"/>
            <a:ext cx="1371600" cy="13716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icons/projec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3624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TechPyme S.L.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343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pequeña empresa ficticia que contextualiza cada práctica del curso, evaluación tras evaluación.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74920" y="960120"/>
            <a:ext cx="548640" cy="54864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9" name="Image 1" descr="icons/user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566" y="11027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978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074920" y="2039112"/>
            <a:ext cx="548640" cy="54864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2" name="Image 2" descr="icons/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566" y="218175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0644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5074920" y="3118104"/>
            <a:ext cx="548640" cy="54864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5" name="Image 3" descr="icons/exchan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566" y="326075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06440" y="3136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5074920" y="4197096"/>
            <a:ext cx="548640" cy="54864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18" name="Image 4" descr="icons/chartpi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566" y="4339742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0644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5074920" y="5276088"/>
            <a:ext cx="548640" cy="548640"/>
          </a:xfrm>
          <a:prstGeom prst="ellipse">
            <a:avLst/>
          </a:prstGeom>
          <a:solidFill>
            <a:srgbClr val="EAF3F5"/>
          </a:solidFill>
          <a:ln/>
        </p:spPr>
      </p:sp>
      <p:pic>
        <p:nvPicPr>
          <p:cNvPr id="21" name="Image 5" descr="icons/cog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7566" y="5418734"/>
            <a:ext cx="263347" cy="26334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806440" y="5294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550" dirty="0"/>
          </a:p>
        </p:txBody>
      </p:sp>
      <p:sp>
        <p:nvSpPr>
          <p:cNvPr id="23" name="Shape 15"/>
          <p:cNvSpPr/>
          <p:nvPr/>
        </p:nvSpPr>
        <p:spPr>
          <a:xfrm>
            <a:off x="8778240" y="960120"/>
            <a:ext cx="2880360" cy="5120640"/>
          </a:xfrm>
          <a:prstGeom prst="roundRect">
            <a:avLst>
              <a:gd name="adj" fmla="val 3175"/>
            </a:avLst>
          </a:prstGeom>
          <a:solidFill>
            <a:srgbClr val="142138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052560" y="1234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departamento tiene usuarios y grupos propios, con permisos diferenciados sobre sus carpetas y recursos compartidos.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9052560" y="2880360"/>
            <a:ext cx="2331720" cy="0"/>
          </a:xfrm>
          <a:prstGeom prst="line">
            <a:avLst/>
          </a:prstGeom>
          <a:noFill/>
          <a:ln w="12700">
            <a:solidFill>
              <a:srgbClr val="2A3E63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905256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Dirección, Compras, Ventas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Contabilidad, Técnico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TECHPYME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del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416052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ALUMNO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395728"/>
            <a:ext cx="6309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9B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256946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icons/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744" y="2740640"/>
            <a:ext cx="316017" cy="3160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11680" y="2514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VM-WIN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· Compras · Ventas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493008"/>
            <a:ext cx="6309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9BD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15568" y="366674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icons/termin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744" y="3837920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01168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VM-LINUX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01168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· Técnico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14400" y="4590288"/>
            <a:ext cx="6309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9BD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15568" y="4764024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44" y="4935200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físico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5120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nodo de red, puntual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772400" y="3429000"/>
            <a:ext cx="685800" cy="502920"/>
          </a:xfrm>
          <a:prstGeom prst="rightArrow">
            <a:avLst/>
          </a:prstGeom>
          <a:solidFill>
            <a:srgbClr val="2ECC71"/>
          </a:solidFill>
          <a:ln/>
        </p:spPr>
      </p:sp>
      <p:sp>
        <p:nvSpPr>
          <p:cNvPr id="22" name="Shape 17"/>
          <p:cNvSpPr/>
          <p:nvPr/>
        </p:nvSpPr>
        <p:spPr>
          <a:xfrm>
            <a:off x="8641080" y="1737360"/>
            <a:ext cx="2926080" cy="416052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6968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PROFESOR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692640" y="2743200"/>
            <a:ext cx="914400" cy="91440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25" name="Image 3" descr="icons/server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4" y="298094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8696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VM-SRV-TECHPYME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915400" y="4343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ficheros Samba, centralizado para toda la clase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EVALUACIÓN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868680" cy="86868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7" name="Image 0" descr="icon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8318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657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y Virtualización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UT2 · UT3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5074920"/>
            <a:ext cx="28803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5212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36h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48056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2FA4B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2148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EVALUACIÓN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00600" y="2606040"/>
            <a:ext cx="868680" cy="86868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15" name="Image 1" descr="icons/desk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457" y="283189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00600" y="3657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300" dirty="0"/>
          </a:p>
        </p:txBody>
      </p:sp>
      <p:sp>
        <p:nvSpPr>
          <p:cNvPr id="17" name="Text 13"/>
          <p:cNvSpPr txBox="1"/>
          <p:nvPr/>
        </p:nvSpPr>
        <p:spPr>
          <a:xfrm>
            <a:off x="4800600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UT4 · UT5 · UT6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00600" y="5074920"/>
            <a:ext cx="28803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00600" y="5212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42h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32104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E844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641080" y="2148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EVALUACIÓN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641080" y="2606040"/>
            <a:ext cx="868680" cy="86868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23" name="Image 2" descr="icons/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937" y="2831897"/>
            <a:ext cx="416966" cy="41696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641080" y="3657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y cierre</a:t>
            </a:r>
            <a:endParaRPr lang="en-US" sz="23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UT7 · UT8 · UT9 · UT10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641080" y="5074920"/>
            <a:ext cx="28803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641080" y="5212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42h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EVALUACIÓN · 36H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y Virtualización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6314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4652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2448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5557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los SO y sistemas de archivo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22448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1498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817620"/>
            <a:ext cx="777240" cy="77724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1" name="Image 1" descr="icons/hd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40197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7993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41102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requisitos de instalación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9966960" y="379933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10h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0080" y="4937760"/>
            <a:ext cx="101498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53721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55741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53538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6647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9966960" y="53538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14h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EVALUACIÓN · 42H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6314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/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4652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2448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5557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Windows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2448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6035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817620"/>
            <a:ext cx="777240" cy="77724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1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40197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7993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UT5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41102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básica de Windows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379933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14h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0080" y="4937760"/>
            <a:ext cx="6035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53721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55741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53538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UT6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6647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Windows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53538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16h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680960" y="1874520"/>
            <a:ext cx="3886200" cy="461772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/>
        </p:spPr>
      </p:sp>
      <p:sp>
        <p:nvSpPr>
          <p:cNvPr id="22" name="Shape 17"/>
          <p:cNvSpPr/>
          <p:nvPr/>
        </p:nvSpPr>
        <p:spPr>
          <a:xfrm>
            <a:off x="8001000" y="2194560"/>
            <a:ext cx="822960" cy="82296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23" name="Image 3" descr="icons/terminal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970" y="240853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0100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8001000" y="37947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línea de comandos de esta evaluación se trabaja con PowerShell: cmdlets, pipeline de objetos, y su aplicación a red, usuarios y permisos NTFS.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EVALUACIÓN · 42H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y cierre del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6883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icons/hd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27091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05054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UT7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36143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Linux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05054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994660"/>
            <a:ext cx="6035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234690"/>
            <a:ext cx="777240" cy="77724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1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343677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21640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UT8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52729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básica de Linux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321640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10h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6035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440055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460263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38226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UT9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69315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Linux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438226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12h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40080" y="5326380"/>
            <a:ext cx="6035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5566410"/>
            <a:ext cx="777240" cy="77724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23" name="Image 3" descr="icons/exchan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576849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554812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UT10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585901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Compartición de archivos y cierre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5852160" y="554812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FA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10h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680960" y="1874520"/>
            <a:ext cx="3886200" cy="461772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/>
        </p:spPr>
      </p:sp>
      <p:sp>
        <p:nvSpPr>
          <p:cNvPr id="28" name="Shape 22"/>
          <p:cNvSpPr/>
          <p:nvPr/>
        </p:nvSpPr>
        <p:spPr>
          <a:xfrm>
            <a:off x="8001000" y="2194560"/>
            <a:ext cx="822960" cy="82296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29" name="Image 4" descr="icons/terminal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70" y="2408530"/>
            <a:ext cx="395021" cy="39502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00100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8001000" y="37947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terminal Bash se introduce en la UT8 y se usa en el resto del bloque: navegación, permisos, procesos, y conexión al servidor Samba centralizado.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DESTACADO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Permisos: NTFS frente a Linux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12848"/>
            <a:ext cx="5212080" cy="3931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828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· NTFS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básicos y especiales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/ Denegar (Denegar siempre gana)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entre carpetas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efectivos por grupo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y toma de posesión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82880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E844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2212848"/>
            <a:ext cx="5212080" cy="3931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828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· chmod y ACL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803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para propietario, grupo y otros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SUID, SGID y sticky bit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 por defecto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con setfacl / getfacl</a:t>
            </a:r>
            <a:endParaRPr lang="en-US" sz="1350" dirty="0"/>
          </a:p>
          <a:p>
            <a:pPr marL="279400" indent="-2794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 recursos Samba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2026-2027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temporal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28216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04488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92624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68896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57032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45168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433304" y="19659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51760"/>
            <a:ext cx="3264408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65176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evaluación · 36h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04488" y="3520440"/>
            <a:ext cx="3590849" cy="502920"/>
          </a:xfrm>
          <a:prstGeom prst="roundRect">
            <a:avLst>
              <a:gd name="adj" fmla="val 10909"/>
            </a:avLst>
          </a:prstGeom>
          <a:solidFill>
            <a:srgbClr val="2FA4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41648" y="3520440"/>
            <a:ext cx="33165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evaluación · 42h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5337" y="4389120"/>
            <a:ext cx="4026103" cy="50292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2497" y="4389120"/>
            <a:ext cx="37517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evaluación · 42h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04488" y="2514600"/>
            <a:ext cx="0" cy="265176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401568" y="5212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5337" y="2514600"/>
            <a:ext cx="0" cy="265176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992417" y="5212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521440" y="2514600"/>
            <a:ext cx="0" cy="265176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11018520" y="5212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EAF3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80644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 de exámenes antes de cada evaluación  ·  Vacaciones de Navidad y Fallas/Semana Santa ajustadas al calendario oficial del centro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evaluación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85800" cy="68580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6" name="Image 0" descr="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2997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teórico-prácticos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8449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121408"/>
            <a:ext cx="685800" cy="68580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11" name="Image 1" descr="icons/projec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229971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TechPyme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15468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4108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prácticas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64108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técnica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conceptos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entrega en plazo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160520"/>
            <a:ext cx="10927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del curso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Ponderada por el peso horario de cada evaluación sobre las 120 horas del módulo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eval.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eval.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87552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87552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eval.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DEL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717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3856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1031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obligatoria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53288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 de las actividades es obligatoria para que el alumno sea evaluado.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726180"/>
            <a:ext cx="822960" cy="822960"/>
          </a:xfrm>
          <a:prstGeom prst="ellipse">
            <a:avLst/>
          </a:prstGeom>
          <a:solidFill>
            <a:srgbClr val="A93226"/>
          </a:solidFill>
          <a:ln/>
        </p:spPr>
      </p:sp>
      <p:pic>
        <p:nvPicPr>
          <p:cNvPr id="11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90" y="39401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03120" y="36576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 = calificación 0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103120" y="40873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profesor detecta que el alumno ha copiado en las prácticas o en los exámenes, la calificación de la práctica o examen será de 0.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98348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52806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54946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52120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 de validación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564184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se reserva el derecho a validar los exámenes y actividades para comprobar que el alumno no se ha copiado.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DEL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INFORMACIÓN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2356226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762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libro de texto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5237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 elaborados por el profesor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27248"/>
            <a:ext cx="621792" cy="621792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0" name="Image 1" descr="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3288914"/>
            <a:ext cx="298460" cy="298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Internet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4564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oficial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059936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4221602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0416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de revistas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4389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especializadas del sector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992624"/>
            <a:ext cx="621792" cy="621792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8" name="Image 3" descr="icons/desk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5154290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9743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Aules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417320" y="53218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para entrega de actividades y comunicación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949440" y="2194560"/>
            <a:ext cx="4617720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23" name="Shape 17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4" descr="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2659075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3337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Aplicacions Ofimàtiques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7223760" y="36758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ofimática para documentación y entregas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949440" y="4343400"/>
            <a:ext cx="4617720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28" name="Shape 21"/>
          <p:cNvSpPr/>
          <p:nvPr/>
        </p:nvSpPr>
        <p:spPr>
          <a:xfrm>
            <a:off x="7223760" y="46177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5" descr="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4807915"/>
            <a:ext cx="351130" cy="35113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23760" y="5486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7223760" y="58247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virtualització per a les màquines de TechPyme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TRABAJO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recursos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5100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30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9631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 para las VMs de TechPyme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331720"/>
            <a:ext cx="685800" cy="68580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11" name="Image 1" descr="icons/termin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5100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130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49631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Windows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331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25100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2130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9189720" y="249631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Linux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206240"/>
            <a:ext cx="685800" cy="68580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21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43845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4005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1783080" y="4370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ficheros centralizado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062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icons/boo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43845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005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MkDocs Material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0" y="4370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 del curso, siempre accesibles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206240"/>
            <a:ext cx="685800" cy="685800"/>
          </a:xfrm>
          <a:prstGeom prst="ellipse">
            <a:avLst/>
          </a:prstGeom>
          <a:solidFill>
            <a:srgbClr val="2FA4B9"/>
          </a:solidFill>
          <a:ln/>
        </p:spPr>
      </p:sp>
      <p:pic>
        <p:nvPicPr>
          <p:cNvPr id="31" name="Image 5" descr="icons/sitem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48" y="43845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9720" y="4005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9189720" y="4370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y planificación visual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421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4572000" cy="4572000"/>
          </a:xfrm>
          <a:prstGeom prst="ellipse">
            <a:avLst/>
          </a:prstGeom>
          <a:solidFill>
            <a:srgbClr val="1421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142138"/>
          </a:solidFill>
          <a:ln/>
        </p:spPr>
      </p:sp>
      <p:pic>
        <p:nvPicPr>
          <p:cNvPr id="5" name="Image 0" descr="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6331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697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FA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el curso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TechPyme S.L. funcionando de principio a fin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y Linux configurados, permisos por departamento, y acceso funcional al servidor de ficheros centralizado.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88636" y="4892040"/>
            <a:ext cx="201168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 completos del curso disponibles en MkDocs Material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Monopuesto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2026-09-01T15:40:11Z</dcterms:created>
  <dcterms:modified xsi:type="dcterms:W3CDTF">2026-09-01T15:40:11Z</dcterms:modified>
</cp:coreProperties>
</file>